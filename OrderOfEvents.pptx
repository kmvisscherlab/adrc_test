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84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345"/>
    <p:restoredTop sz="94703"/>
  </p:normalViewPr>
  <p:slideViewPr>
    <p:cSldViewPr snapToGrid="0" showGuides="1">
      <p:cViewPr varScale="1">
        <p:scale>
          <a:sx n="103" d="100"/>
          <a:sy n="103" d="100"/>
        </p:scale>
        <p:origin x="176" y="368"/>
      </p:cViewPr>
      <p:guideLst>
        <p:guide orient="horz" pos="2184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A8B295-6731-F760-9690-D370931016D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3AEC734-650F-D730-4FAF-71EDC2AA563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625E6BA-BFBB-C701-2377-957BB867E1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AF39D5-46FB-AE49-8DC6-944BA2AF3045}" type="datetimeFigureOut">
              <a:rPr lang="en-US" smtClean="0"/>
              <a:t>9/29/26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1E79BD5-B76A-BA60-3C79-4756C695F5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FB5BB73-A0A2-6F26-525C-E4C5B59471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A47C00-5A2D-3143-B752-217F3D24BA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693439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AF3198-E1BD-8AFD-ED09-EDF718E1F0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6A9D5AA-4147-E0F6-0A52-2A94626F6F4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67D659E-F6AF-C8FE-8578-90A51C52B3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AF39D5-46FB-AE49-8DC6-944BA2AF3045}" type="datetimeFigureOut">
              <a:rPr lang="en-US" smtClean="0"/>
              <a:t>9/29/26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16D4E4-EE1C-F84E-0BE0-B74E612A26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61A4E38-850E-B24C-F711-585F073AE9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A47C00-5A2D-3143-B752-217F3D24BA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741983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8B7E6E-03AA-DAEA-8FF0-F41B774BB5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5927186-66E9-F8ED-AE4F-A674E64D0E2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6CD82F0-1987-CC51-B37E-EC049D5B1B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AF39D5-46FB-AE49-8DC6-944BA2AF3045}" type="datetimeFigureOut">
              <a:rPr lang="en-US" smtClean="0"/>
              <a:t>9/29/26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5D12ADE-9B3B-4A32-D1F5-CEAC99B2A0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D4BDD1B-FCD1-8267-85DA-4D7FD2FF9C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A47C00-5A2D-3143-B752-217F3D24BA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21544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1CE599-A183-F489-5F3E-1D0EBB6A42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49ACB3A-1A6E-3F7D-C57B-8F8BFF22FB3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F810590-C0C1-EAC8-6C8B-A946CF8ED31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0CAC39A-7EDC-5B41-D0D9-CC4ECB8AD0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AF39D5-46FB-AE49-8DC6-944BA2AF3045}" type="datetimeFigureOut">
              <a:rPr lang="en-US" smtClean="0"/>
              <a:t>9/29/26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88B0D42-5AED-5B8E-18DF-F71988E110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C74345C-98C9-C0FA-2A34-6284E3C10C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A47C00-5A2D-3143-B752-217F3D24BA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526157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030BFF-DC70-9F0A-5E4A-4927CC35D9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21507A2-8770-0B0F-A17C-A991B13236F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55EC4EF-4751-5B02-6966-5699F48788A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BE86C0E-1261-03A8-7507-6BDA87D52D3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278BB6E-6F90-C9B8-C223-9E9C29E60BB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DD5E8F1-F0F8-9A27-807C-C4C00CAAF0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AF39D5-46FB-AE49-8DC6-944BA2AF3045}" type="datetimeFigureOut">
              <a:rPr lang="en-US" smtClean="0"/>
              <a:t>9/29/26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0A39D4E-2F1A-41C3-C6A4-FCEEDF1153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4A1BFE4-39E5-E9DC-6E3E-9726E4FEA4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A47C00-5A2D-3143-B752-217F3D24BA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534377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927C73-D935-7860-1605-231AEFA23A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D807A9D-DF56-3721-2051-8DDB3878B8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AF39D5-46FB-AE49-8DC6-944BA2AF3045}" type="datetimeFigureOut">
              <a:rPr lang="en-US" smtClean="0"/>
              <a:t>9/29/26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5F7D159-2738-B049-8714-BC8C840E6A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914483F-1E4B-7BEF-0EE7-138EB73E2E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A47C00-5A2D-3143-B752-217F3D24BA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119429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43F1383-3B3B-3729-7724-DB6FB58902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AF39D5-46FB-AE49-8DC6-944BA2AF3045}" type="datetimeFigureOut">
              <a:rPr lang="en-US" smtClean="0"/>
              <a:t>9/29/26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862AEA5-A53A-1C9D-6A0F-2F3178B529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AC32E9D-1A50-73EA-1D41-1E51919760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A47C00-5A2D-3143-B752-217F3D24BA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795292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7C0C99-BC91-E3F7-E196-BB6EBA15AB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C67201D-CBA9-8BD9-D02F-8A620D4B3D2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7FFC49A-35F1-CD80-4A4A-621E060B522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2B89FB9-302A-D8A9-E7B8-11187B3195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AF39D5-46FB-AE49-8DC6-944BA2AF3045}" type="datetimeFigureOut">
              <a:rPr lang="en-US" smtClean="0"/>
              <a:t>9/29/26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7C1C721-7B39-66B3-C643-B55FE52B3B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8632D03-A8CA-1EE9-4D13-E2496D727F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A47C00-5A2D-3143-B752-217F3D24BA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221035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83F98B-395D-5026-07DE-3AE35E376B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BAC7D3E-F102-3202-5A9E-796C22C3DCF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95553FD-9E41-CFF0-4139-0DE35190EE7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AF61FC4-4A59-A9A9-FA3A-4E10828934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AF39D5-46FB-AE49-8DC6-944BA2AF3045}" type="datetimeFigureOut">
              <a:rPr lang="en-US" smtClean="0"/>
              <a:t>9/29/26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6D6E098-B22A-BF03-BCCA-CECCC64131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C13C8EC-648C-A1B8-FB74-E8ABBF1F27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A47C00-5A2D-3143-B752-217F3D24BA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531706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29AE2E-7E9D-357C-207A-4878120448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00ADC13-D76F-4CB9-3768-9DF460CE310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15E614A-ABD3-308D-15F1-10686EDAFB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AF39D5-46FB-AE49-8DC6-944BA2AF3045}" type="datetimeFigureOut">
              <a:rPr lang="en-US" smtClean="0"/>
              <a:t>9/29/26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03F0DE1-DFCD-6655-1583-689A18A183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FFD5DB4-15EC-5B12-0882-F60E30D702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A47C00-5A2D-3143-B752-217F3D24BA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044897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DD414EB-5D53-1A82-E181-62296F5082A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ED06BF0-5097-D27D-154A-539F4B1E25A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3CE56A4-6E0F-572E-96F8-8FF1B6F962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AF39D5-46FB-AE49-8DC6-944BA2AF3045}" type="datetimeFigureOut">
              <a:rPr lang="en-US" smtClean="0"/>
              <a:t>9/29/26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5969B7A-22C1-C7E4-2FAF-93CAD1C988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E1973A9-7456-6CA3-0AC4-615B0D01A7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A47C00-5A2D-3143-B752-217F3D24BA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81914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FA3DF94-F275-A384-2220-205CC93391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F0A45E9-0A16-A7ED-5371-4EDA85C5FC9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80E0274-8B13-ACB8-F8A0-5DD9A8D2EC6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FAF39D5-46FB-AE49-8DC6-944BA2AF3045}" type="datetimeFigureOut">
              <a:rPr lang="en-US" smtClean="0"/>
              <a:t>9/29/26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43CB77-C475-C1E2-1C82-4224B196AC7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8038EC1-D40A-59A3-4599-0D176B6D8F1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6A47C00-5A2D-3143-B752-217F3D24BA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190825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1EA14412-B477-5F42-C210-A0E08283451D}"/>
              </a:ext>
            </a:extLst>
          </p:cNvPr>
          <p:cNvSpPr txBox="1"/>
          <p:nvPr/>
        </p:nvSpPr>
        <p:spPr>
          <a:xfrm>
            <a:off x="1007533" y="1729650"/>
            <a:ext cx="2853266" cy="73866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1400" dirty="0"/>
              <a:t>ADRC schedules participant after discussion with cyclotron facility to check availability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F8D9054-91CF-E14D-A202-BF7CE516CF5B}"/>
              </a:ext>
            </a:extLst>
          </p:cNvPr>
          <p:cNvSpPr txBox="1"/>
          <p:nvPr/>
        </p:nvSpPr>
        <p:spPr>
          <a:xfrm>
            <a:off x="994611" y="2588790"/>
            <a:ext cx="2851485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Cyclotron makes tracer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1278408-26B4-A932-D26D-B27D67AC18F2}"/>
              </a:ext>
            </a:extLst>
          </p:cNvPr>
          <p:cNvSpPr txBox="1"/>
          <p:nvPr/>
        </p:nvSpPr>
        <p:spPr>
          <a:xfrm>
            <a:off x="978569" y="3258372"/>
            <a:ext cx="2851485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participant shows up 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6751EB4-209C-D54E-DAEC-AA0871839C04}"/>
              </a:ext>
            </a:extLst>
          </p:cNvPr>
          <p:cNvSpPr txBox="1"/>
          <p:nvPr/>
        </p:nvSpPr>
        <p:spPr>
          <a:xfrm>
            <a:off x="998175" y="762223"/>
            <a:ext cx="2851485" cy="52322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1400" dirty="0"/>
              <a:t>slots are put in PET/MR schedule.  (not quickly flexible)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1FCDF68-4DB6-08B6-17C9-4B3F11C6943A}"/>
              </a:ext>
            </a:extLst>
          </p:cNvPr>
          <p:cNvSpPr txBox="1"/>
          <p:nvPr/>
        </p:nvSpPr>
        <p:spPr>
          <a:xfrm>
            <a:off x="974560" y="3844088"/>
            <a:ext cx="2851485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data is collected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DDE8E89-DFFF-E713-DF36-49F2E3E47FCC}"/>
              </a:ext>
            </a:extLst>
          </p:cNvPr>
          <p:cNvSpPr txBox="1"/>
          <p:nvPr/>
        </p:nvSpPr>
        <p:spPr>
          <a:xfrm>
            <a:off x="3903243" y="0"/>
            <a:ext cx="1787694" cy="64633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If there’s a problem, call: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0CFE2F3-FC26-BA99-4113-AF4AED28C371}"/>
              </a:ext>
            </a:extLst>
          </p:cNvPr>
          <p:cNvSpPr txBox="1"/>
          <p:nvPr/>
        </p:nvSpPr>
        <p:spPr>
          <a:xfrm>
            <a:off x="3854672" y="936014"/>
            <a:ext cx="1795714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Lucas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5141E86-3FFC-0E43-541E-5CF3432A7B8B}"/>
              </a:ext>
            </a:extLst>
          </p:cNvPr>
          <p:cNvSpPr txBox="1"/>
          <p:nvPr/>
        </p:nvSpPr>
        <p:spPr>
          <a:xfrm>
            <a:off x="1396664" y="0"/>
            <a:ext cx="2509588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Thing that happens: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24DEAB1-70DB-6C70-71A7-B920BB1AE4F9}"/>
              </a:ext>
            </a:extLst>
          </p:cNvPr>
          <p:cNvSpPr txBox="1"/>
          <p:nvPr/>
        </p:nvSpPr>
        <p:spPr>
          <a:xfrm>
            <a:off x="3871160" y="1822782"/>
            <a:ext cx="1795714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Tyler</a:t>
            </a:r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E710B0DC-3DD6-333A-B3A9-8A0A89231C28}"/>
              </a:ext>
            </a:extLst>
          </p:cNvPr>
          <p:cNvCxnSpPr>
            <a:cxnSpLocks/>
          </p:cNvCxnSpPr>
          <p:nvPr/>
        </p:nvCxnSpPr>
        <p:spPr>
          <a:xfrm>
            <a:off x="3432119" y="1236577"/>
            <a:ext cx="0" cy="364959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593C2EF9-CB4B-43BF-3ABC-8F275030BDF7}"/>
              </a:ext>
            </a:extLst>
          </p:cNvPr>
          <p:cNvSpPr txBox="1"/>
          <p:nvPr/>
        </p:nvSpPr>
        <p:spPr>
          <a:xfrm>
            <a:off x="3855118" y="2562720"/>
            <a:ext cx="1795714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Denise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D761701-B240-DA60-5990-36055F2CEDB3}"/>
              </a:ext>
            </a:extLst>
          </p:cNvPr>
          <p:cNvSpPr txBox="1"/>
          <p:nvPr/>
        </p:nvSpPr>
        <p:spPr>
          <a:xfrm>
            <a:off x="3839077" y="3244334"/>
            <a:ext cx="1795714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Tyler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55BD8D45-E71F-0451-26C0-AE6815CAE2E8}"/>
              </a:ext>
            </a:extLst>
          </p:cNvPr>
          <p:cNvSpPr txBox="1"/>
          <p:nvPr/>
        </p:nvSpPr>
        <p:spPr>
          <a:xfrm>
            <a:off x="982580" y="4539274"/>
            <a:ext cx="2851485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data is put into database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E90EDA61-A4C0-17C8-E491-738331580648}"/>
              </a:ext>
            </a:extLst>
          </p:cNvPr>
          <p:cNvSpPr txBox="1"/>
          <p:nvPr/>
        </p:nvSpPr>
        <p:spPr>
          <a:xfrm>
            <a:off x="3835066" y="4539911"/>
            <a:ext cx="1795714" cy="92333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Chad (also </a:t>
            </a:r>
            <a:r>
              <a:rPr lang="en-US" dirty="0" err="1"/>
              <a:t>Chinara</a:t>
            </a:r>
            <a:r>
              <a:rPr lang="en-US" dirty="0"/>
              <a:t> and Tyler)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606571EE-B219-6675-6B01-58201E1851A3}"/>
              </a:ext>
            </a:extLst>
          </p:cNvPr>
          <p:cNvSpPr txBox="1"/>
          <p:nvPr/>
        </p:nvSpPr>
        <p:spPr>
          <a:xfrm>
            <a:off x="3843088" y="3838071"/>
            <a:ext cx="1795714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Nicole and Nick</a:t>
            </a:r>
          </a:p>
        </p:txBody>
      </p: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D79D0227-178A-D7D3-6BA5-41DA1AA7B9DA}"/>
              </a:ext>
            </a:extLst>
          </p:cNvPr>
          <p:cNvCxnSpPr>
            <a:cxnSpLocks/>
          </p:cNvCxnSpPr>
          <p:nvPr/>
        </p:nvCxnSpPr>
        <p:spPr>
          <a:xfrm>
            <a:off x="3469102" y="2470487"/>
            <a:ext cx="0" cy="364959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>
            <a:extLst>
              <a:ext uri="{FF2B5EF4-FFF2-40B4-BE49-F238E27FC236}">
                <a16:creationId xmlns:a16="http://schemas.microsoft.com/office/drawing/2014/main" id="{3A02E7A4-E017-C67F-5A20-F550493AB0AE}"/>
              </a:ext>
            </a:extLst>
          </p:cNvPr>
          <p:cNvSpPr txBox="1"/>
          <p:nvPr/>
        </p:nvSpPr>
        <p:spPr>
          <a:xfrm>
            <a:off x="966538" y="5389507"/>
            <a:ext cx="2851485" cy="64633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data goes through clinical assessment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30D60691-FD9B-43E4-979D-C33747B95400}"/>
              </a:ext>
            </a:extLst>
          </p:cNvPr>
          <p:cNvSpPr txBox="1"/>
          <p:nvPr/>
        </p:nvSpPr>
        <p:spPr>
          <a:xfrm>
            <a:off x="3819024" y="5541065"/>
            <a:ext cx="1795714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Deepak</a:t>
            </a:r>
          </a:p>
        </p:txBody>
      </p: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D66E1C0F-BDAB-B28F-1CB1-0905EABD03FA}"/>
              </a:ext>
            </a:extLst>
          </p:cNvPr>
          <p:cNvCxnSpPr>
            <a:cxnSpLocks/>
          </p:cNvCxnSpPr>
          <p:nvPr/>
        </p:nvCxnSpPr>
        <p:spPr>
          <a:xfrm>
            <a:off x="3469106" y="2963777"/>
            <a:ext cx="0" cy="364959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A0F8B0E4-AE1A-2C55-0860-595D9D31EAFA}"/>
              </a:ext>
            </a:extLst>
          </p:cNvPr>
          <p:cNvCxnSpPr>
            <a:cxnSpLocks/>
          </p:cNvCxnSpPr>
          <p:nvPr/>
        </p:nvCxnSpPr>
        <p:spPr>
          <a:xfrm>
            <a:off x="3477123" y="3609476"/>
            <a:ext cx="0" cy="364959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1A6048DF-3594-A2CD-95F5-F0559F20860F}"/>
              </a:ext>
            </a:extLst>
          </p:cNvPr>
          <p:cNvCxnSpPr>
            <a:cxnSpLocks/>
          </p:cNvCxnSpPr>
          <p:nvPr/>
        </p:nvCxnSpPr>
        <p:spPr>
          <a:xfrm>
            <a:off x="3465095" y="4186988"/>
            <a:ext cx="0" cy="364959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0F259FBC-C7EF-C3C7-04A3-BCE616E75788}"/>
              </a:ext>
            </a:extLst>
          </p:cNvPr>
          <p:cNvCxnSpPr>
            <a:cxnSpLocks/>
          </p:cNvCxnSpPr>
          <p:nvPr/>
        </p:nvCxnSpPr>
        <p:spPr>
          <a:xfrm>
            <a:off x="3473112" y="4868783"/>
            <a:ext cx="0" cy="364959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TextBox 30">
            <a:extLst>
              <a:ext uri="{FF2B5EF4-FFF2-40B4-BE49-F238E27FC236}">
                <a16:creationId xmlns:a16="http://schemas.microsoft.com/office/drawing/2014/main" id="{7DA45177-46DF-4AF7-A71D-7C623772D7CE}"/>
              </a:ext>
            </a:extLst>
          </p:cNvPr>
          <p:cNvSpPr txBox="1"/>
          <p:nvPr/>
        </p:nvSpPr>
        <p:spPr>
          <a:xfrm>
            <a:off x="5664879" y="775313"/>
            <a:ext cx="1795714" cy="83099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1200" dirty="0"/>
              <a:t>Any suggested changes should be requested many months in advance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1A2F9FBE-4CCE-F5E7-3DC2-1E4A08D55D95}"/>
              </a:ext>
            </a:extLst>
          </p:cNvPr>
          <p:cNvSpPr txBox="1"/>
          <p:nvPr/>
        </p:nvSpPr>
        <p:spPr>
          <a:xfrm>
            <a:off x="5671886" y="1806740"/>
            <a:ext cx="1795714" cy="64633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1200" dirty="0"/>
              <a:t>synthesis times will influence timing and throughput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C226B8A0-E2F4-7838-A9E7-8A40AB226A42}"/>
              </a:ext>
            </a:extLst>
          </p:cNvPr>
          <p:cNvSpPr txBox="1"/>
          <p:nvPr/>
        </p:nvSpPr>
        <p:spPr>
          <a:xfrm>
            <a:off x="5655844" y="2546678"/>
            <a:ext cx="1795714" cy="27699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1200" dirty="0"/>
              <a:t>subject to errors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CE879DD1-E767-235C-937B-68254CFFD262}"/>
              </a:ext>
            </a:extLst>
          </p:cNvPr>
          <p:cNvSpPr txBox="1"/>
          <p:nvPr/>
        </p:nvSpPr>
        <p:spPr>
          <a:xfrm>
            <a:off x="5639803" y="3228292"/>
            <a:ext cx="1795714" cy="27699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1200" dirty="0"/>
              <a:t>?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76F75DFB-A7C9-72D3-D53F-3C6E1791F748}"/>
              </a:ext>
            </a:extLst>
          </p:cNvPr>
          <p:cNvSpPr txBox="1"/>
          <p:nvPr/>
        </p:nvSpPr>
        <p:spPr>
          <a:xfrm>
            <a:off x="5635792" y="4523869"/>
            <a:ext cx="1795714" cy="27699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1200" dirty="0"/>
              <a:t>?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85F6983F-77BA-716B-6D6A-62DF89CEB0B2}"/>
              </a:ext>
            </a:extLst>
          </p:cNvPr>
          <p:cNvSpPr txBox="1"/>
          <p:nvPr/>
        </p:nvSpPr>
        <p:spPr>
          <a:xfrm>
            <a:off x="5643814" y="3822029"/>
            <a:ext cx="1795714" cy="27699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1200" dirty="0"/>
              <a:t>?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CF2B2AE4-14FB-0DE9-1734-CCA056E7938B}"/>
              </a:ext>
            </a:extLst>
          </p:cNvPr>
          <p:cNvSpPr txBox="1"/>
          <p:nvPr/>
        </p:nvSpPr>
        <p:spPr>
          <a:xfrm>
            <a:off x="5619750" y="5374102"/>
            <a:ext cx="1795714" cy="27699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1200" dirty="0"/>
              <a:t>?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453CA95C-EB84-0FD6-32F1-79F1C55CBB2C}"/>
              </a:ext>
            </a:extLst>
          </p:cNvPr>
          <p:cNvSpPr txBox="1"/>
          <p:nvPr/>
        </p:nvSpPr>
        <p:spPr>
          <a:xfrm>
            <a:off x="5679906" y="0"/>
            <a:ext cx="1787694" cy="64633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Other important points</a:t>
            </a:r>
          </a:p>
        </p:txBody>
      </p:sp>
    </p:spTree>
    <p:extLst>
      <p:ext uri="{BB962C8B-B14F-4D97-AF65-F5344CB8AC3E}">
        <p14:creationId xmlns:p14="http://schemas.microsoft.com/office/powerpoint/2010/main" val="375801783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7394</TotalTime>
  <Words>97</Words>
  <Application>Microsoft Macintosh PowerPoint</Application>
  <PresentationFormat>Widescreen</PresentationFormat>
  <Paragraphs>24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Visscher, Kristina M (Campus)</dc:creator>
  <cp:lastModifiedBy>Visscher, Kristina M</cp:lastModifiedBy>
  <cp:revision>8</cp:revision>
  <dcterms:created xsi:type="dcterms:W3CDTF">2026-08-04T15:18:44Z</dcterms:created>
  <dcterms:modified xsi:type="dcterms:W3CDTF">2026-09-30T00:29:36Z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ae7542bc-63e5-412b-b0a0-d9586028a7d0_Enabled">
    <vt:lpwstr>true</vt:lpwstr>
  </property>
  <property fmtid="{D5CDD505-2E9C-101B-9397-08002B2CF9AE}" pid="3" name="MSIP_Label_ae7542bc-63e5-412b-b0a0-d9586028a7d0_SetDate">
    <vt:lpwstr>2026-08-04T16:37:02Z</vt:lpwstr>
  </property>
  <property fmtid="{D5CDD505-2E9C-101B-9397-08002B2CF9AE}" pid="4" name="MSIP_Label_ae7542bc-63e5-412b-b0a0-d9586028a7d0_Method">
    <vt:lpwstr>Standard</vt:lpwstr>
  </property>
  <property fmtid="{D5CDD505-2E9C-101B-9397-08002B2CF9AE}" pid="5" name="MSIP_Label_ae7542bc-63e5-412b-b0a0-d9586028a7d0_Name">
    <vt:lpwstr>Sensitive</vt:lpwstr>
  </property>
  <property fmtid="{D5CDD505-2E9C-101B-9397-08002B2CF9AE}" pid="6" name="MSIP_Label_ae7542bc-63e5-412b-b0a0-d9586028a7d0_SiteId">
    <vt:lpwstr>d8999fe4-76af-40b3-b435-1d8977abc08c</vt:lpwstr>
  </property>
  <property fmtid="{D5CDD505-2E9C-101B-9397-08002B2CF9AE}" pid="7" name="MSIP_Label_ae7542bc-63e5-412b-b0a0-d9586028a7d0_ActionId">
    <vt:lpwstr>c3e5631d-59fb-4a50-b9db-11757806d069</vt:lpwstr>
  </property>
  <property fmtid="{D5CDD505-2E9C-101B-9397-08002B2CF9AE}" pid="8" name="MSIP_Label_ae7542bc-63e5-412b-b0a0-d9586028a7d0_ContentBits">
    <vt:lpwstr>0</vt:lpwstr>
  </property>
</Properties>
</file>